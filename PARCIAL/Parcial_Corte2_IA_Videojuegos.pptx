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P(Victoria)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5% (muy seguro)</c:v>
                  </c:pt>
                  <c:pt idx="1">
                    <c:v>10%</c:v>
                  </c:pt>
                  <c:pt idx="2">
                    <c:v>20%</c:v>
                  </c:pt>
                  <c:pt idx="3">
                    <c:v>40%</c:v>
                  </c:pt>
                  <c:pt idx="4">
                    <c:v>60% (muy peligroso)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</c:v>
                </c:pt>
                <c:pt idx="1">
                  <c:v>87</c:v>
                </c:pt>
                <c:pt idx="2">
                  <c:v>84</c:v>
                </c:pt>
                <c:pt idx="3">
                  <c:v>78</c:v>
                </c:pt>
                <c:pt idx="4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2E3F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2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5DCAA5">
              <a:alpha val="40000"/>
            </a:srgbClr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ARTIFICIAL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IA para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Videojuegos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Batalla RPG por Turnos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D85A30">
              <a:alpha val="8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290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Min-Max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3429000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378ADD">
              <a:alpha val="8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4290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STRIPS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3429000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7F77DD">
              <a:alpha val="8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4290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Bayesiano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Corte 2  ·  IA Clásica  ·  Sector Videojuegos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4AB"/>
                </a:solidFill>
              </a:rPr>
              <a:t>FLUJO DEL AGENTE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1261872"/>
            <a:ext cx="210312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2618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4AB"/>
                </a:solidFill>
              </a:rPr>
              <a:t>1  OBSERVAR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1773936"/>
            <a:ext cx="210312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7739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7DD"/>
                </a:solidFill>
              </a:rPr>
              <a:t>2  P(Victoria)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2286000"/>
            <a:ext cx="210312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286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8ADD"/>
                </a:solidFill>
              </a:rPr>
              <a:t>3  PLANIFICAR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2798064"/>
            <a:ext cx="210312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</a:rPr>
              <a:t>4  DECIDIR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3310128"/>
            <a:ext cx="210312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310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</a:rPr>
              <a:t>5  EJECUTAR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8A94AB"/>
          </a:solidFill>
          <a:ln w="12700">
            <a:solidFill>
              <a:srgbClr val="8A94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CONTEXTO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escenario: batalla RPG por turnos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controla a un Héroe que debe derrotar al Jefe Final. Cada turno, los tres módulos de IA trabajan juntos para tomar la mejor decisión posible.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840480" cy="164592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50292" cy="1645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HÉROE (agente MAX)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0 – 100  (vida restante)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Ítems: pociones de curación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Atacar / Defender / Usar ítem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840480" cy="164592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920240"/>
            <a:ext cx="50292" cy="1645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JEFE FINAL (agente MIN)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2395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0 – 100  (vida del enemigo)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3712" y="2706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Golpe fuerte / Débil / Curar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53712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Juega de forma ÓPTIMA contra el héroe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7863840" cy="82296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858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</a:rPr>
              <a:t>Regla del turno: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85876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héroe actúa primero → el jefe responde → se repite hasta que alguno llegue a HP = 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</a:rPr>
              <a:t>Cada turno usa los 3 módulos combinados: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4617720"/>
            <a:ext cx="1600200" cy="292608"/>
          </a:xfrm>
          <a:prstGeom prst="rect">
            <a:avLst/>
          </a:prstGeom>
          <a:solidFill>
            <a:srgbClr val="D85A30">
              <a:alpha val="25000"/>
            </a:srgbClr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Min-Max → decidir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4617720"/>
            <a:ext cx="1600200" cy="292608"/>
          </a:xfrm>
          <a:prstGeom prst="rect">
            <a:avLst/>
          </a:prstGeom>
          <a:solidFill>
            <a:srgbClr val="378ADD">
              <a:alpha val="25000"/>
            </a:srgbClr>
          </a:solidFill>
          <a:ln w="10160">
            <a:solidFill>
              <a:srgbClr val="378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</a:rPr>
              <a:t>STRIPS → planificar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4617720"/>
            <a:ext cx="1600200" cy="292608"/>
          </a:xfrm>
          <a:prstGeom prst="rect">
            <a:avLst/>
          </a:prstGeom>
          <a:solidFill>
            <a:srgbClr val="7F77DD">
              <a:alpha val="25000"/>
            </a:srgbClr>
          </a:solidFill>
          <a:ln w="10160">
            <a:solidFill>
              <a:srgbClr val="7F77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77DD"/>
                </a:solidFill>
              </a:rPr>
              <a:t>Bayesiano → evaluar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MIN-MAX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Min-Max: tomar la mejor decisión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simula varios turnos hacia adelante y elige la acción que maximiza su ventaja, asumiendo que el jefe jugará de la mejor forma posible.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931920" cy="26060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50292" cy="26060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93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Cómo funciona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héroe (MAX) quiere el valor MÁS ALTO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8833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jefe (MIN) quiere el valor MÁS BAJO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un árbol de movimientos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34670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cada hoja con la función heurística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propaga el valor hacia la raíz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005072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 elige la acción con mayor valor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874520"/>
            <a:ext cx="4251960" cy="26060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874520"/>
            <a:ext cx="50292" cy="26060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Las 3 versiones implementadas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2395728"/>
            <a:ext cx="3840480" cy="59436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4871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B"/>
                </a:solidFill>
              </a:rPr>
              <a:t>Naive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7157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completo hasta profundidad D. Más lento, más nodos.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081528"/>
            <a:ext cx="3840480" cy="59436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3172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</a:rPr>
              <a:t>Alfa-Beta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401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 de ramas irrelevantes. Mismo resultado, ~50% menos nodos.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767328"/>
            <a:ext cx="3840480" cy="59436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8587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Heurística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087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estado con HP + ítems + agresividad. Más inteligente.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681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</a:rPr>
              <a:t>Función heurística: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4681728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(HP_héroe − HP_jefe) × 1.5 + ítems × 12 + bonus_agresión − penalti_crítico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MIN-MAX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Comparación de versiones — Resultados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560320" cy="105156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→ 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B"/>
                </a:solidFill>
              </a:rPr>
              <a:t>Nodos (prof. 2): naive vs α-β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61872"/>
            <a:ext cx="2560320" cy="105156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71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121 → 37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B"/>
                </a:solidFill>
              </a:rPr>
              <a:t>Nodos (prof. 4): naive vs α-β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61872"/>
            <a:ext cx="2560320" cy="105156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71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0350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B"/>
                </a:solidFill>
              </a:rPr>
              <a:t>Reducción promedio con α-β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1463040"/>
                <a:gridCol w="1463040"/>
                <a:gridCol w="2834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 Naive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 α-β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(Naive / α-β / Heur.)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1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 héroe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Atacar / Atacar / Atacar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 héroe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Atacar / Atacar / Atacar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9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ítem / Usar ítem / Atacar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Desventaja héroe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9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Atacar / Atacar / Defender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45902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</a:rPr>
              <a:t>Conclusión: 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91640" y="459028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α-β mantiene la MISMA decisión que Naive pero con mucho menos costo computacional. La heurística propia cambia la decisión en situaciones de empate, priorizando supervivencia.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STRIPS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STRIPS: planificar el camino a la victoria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encuentra automáticamente la secuencia de acciones para llevar al héroe desde la aldea hasta derrotar al jefe, respetando precondiciones y efectos de cada acción.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14800" cy="141732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50292" cy="1417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84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</a:rPr>
              <a:t>Estado inicial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en_aldea = True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578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tiene_espada = False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852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jefe_vivo = True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114800" cy="141732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74520"/>
            <a:ext cx="50292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84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Meta (objetivo)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jefe_derrotado = True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5786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trabaja hacia atrás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meta para encontrar el plan.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4564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9F27"/>
                </a:solidFill>
              </a:rPr>
              <a:t>PLAN ENCONTRADO  (4 pasos)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94760"/>
            <a:ext cx="1993392" cy="114300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94760"/>
            <a:ext cx="1993392" cy="274320"/>
          </a:xfrm>
          <a:prstGeom prst="rect">
            <a:avLst/>
          </a:prstGeom>
          <a:solidFill>
            <a:srgbClr val="378ADD">
              <a:alpha val="8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8130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Comprar Espada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" y="4114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4AB"/>
                </a:solidFill>
              </a:rPr>
              <a:t>Pre: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41056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en_aldea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tiene_espada = False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3192" y="44805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Efecto: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8680" y="4480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tiene_espada = True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13432" y="4361688"/>
            <a:ext cx="155448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3794760"/>
            <a:ext cx="1993392" cy="114300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3794760"/>
            <a:ext cx="1993392" cy="274320"/>
          </a:xfrm>
          <a:prstGeom prst="rect">
            <a:avLst/>
          </a:prstGeom>
          <a:solidFill>
            <a:srgbClr val="378ADD">
              <a:alpha val="8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38130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Ir a Mazmorra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42032" y="4114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4AB"/>
                </a:solidFill>
              </a:rPr>
              <a:t>Pre: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80360" y="41056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en_aldea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tiene_espada = True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42032" y="44805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Efecto: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17520" y="4480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en_mazmorra = True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2272" y="4361688"/>
            <a:ext cx="155448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794760"/>
            <a:ext cx="1993392" cy="114300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3794760"/>
            <a:ext cx="1993392" cy="274320"/>
          </a:xfrm>
          <a:prstGeom prst="rect">
            <a:avLst/>
          </a:prstGeom>
          <a:solidFill>
            <a:srgbClr val="378ADD">
              <a:alpha val="8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38130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Debilitar Jefe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90872" y="4114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4AB"/>
                </a:solidFill>
              </a:rPr>
              <a:t>Pre: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0" y="41056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en_mazmorra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jefe_fuerte = True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90872" y="44805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Efecto: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66360" y="4480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jefe_debil = True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611112" y="4361688"/>
            <a:ext cx="155448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3794760"/>
            <a:ext cx="1993392" cy="114300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3794760"/>
            <a:ext cx="1993392" cy="274320"/>
          </a:xfrm>
          <a:prstGeom prst="rect">
            <a:avLst/>
          </a:prstGeom>
          <a:solidFill>
            <a:srgbClr val="378ADD">
              <a:alpha val="8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38130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Atacar Jefe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39712" y="4114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4AB"/>
                </a:solidFill>
              </a:rPr>
              <a:t>Pre: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78040" y="41056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en_mazmorra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jefe_debil = True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39712" y="44805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Efecto: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15200" y="4480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jefe_derrotado = True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BAYESIANO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Bayesiana: ¿cuánto chance tenemos de ganar?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bayesiana combina tres variables del estado del juego para calcular la probabilidad de victoria antes de que el agente decida su acción.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01952"/>
            <a:ext cx="4114800" cy="297180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01952"/>
            <a:ext cx="50292" cy="29718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</a:rPr>
              <a:t>Estructura de la 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977640"/>
            <a:ext cx="2194560" cy="59436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977640"/>
            <a:ext cx="219456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50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9F27"/>
                </a:solidFill>
              </a:rPr>
              <a:t>P(Victoria)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3251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Nodo hijo (resultado)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914400" cy="77724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95728"/>
            <a:ext cx="91440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780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Enemigo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peligroso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P=0.40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" y="3172968"/>
            <a:ext cx="0" cy="804672"/>
          </a:xfrm>
          <a:prstGeom prst="line">
            <a:avLst/>
          </a:prstGeom>
          <a:noFill/>
          <a:ln w="12700">
            <a:solidFill>
              <a:srgbClr val="2E3F5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664208" y="2395728"/>
            <a:ext cx="914400" cy="77724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64208" y="2395728"/>
            <a:ext cx="91440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24780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</a:rPr>
              <a:t>HP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</a:rPr>
              <a:t>del héroe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64208" y="28163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P(bajo)=0.35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21408" y="3172968"/>
            <a:ext cx="0" cy="804672"/>
          </a:xfrm>
          <a:prstGeom prst="line">
            <a:avLst/>
          </a:prstGeom>
          <a:noFill/>
          <a:ln w="12700">
            <a:solidFill>
              <a:srgbClr val="2E3F5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825496" y="2395728"/>
            <a:ext cx="914400" cy="77724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25496" y="2395728"/>
            <a:ext cx="9144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25496" y="24780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Tiene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arma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25496" y="28163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P=0.75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82696" y="3172968"/>
            <a:ext cx="0" cy="804672"/>
          </a:xfrm>
          <a:prstGeom prst="line">
            <a:avLst/>
          </a:prstGeom>
          <a:noFill/>
          <a:ln w="12700">
            <a:solidFill>
              <a:srgbClr val="2E3F5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663440" y="1901952"/>
            <a:ext cx="4114800" cy="297180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901952"/>
            <a:ext cx="50292" cy="29718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Tabla CPT — P(Victoria)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2395728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822960"/>
                <a:gridCol w="10972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Enemigo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HP bajo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P(Victoria)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</a:rPr>
                        <a:t>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9F27"/>
                          </a:solidFill>
                        </a:rPr>
                        <a:t>60%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D4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9F27"/>
                          </a:solidFill>
                        </a:rPr>
                        <a:t>55%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BAYESIANO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sensibilidad bayesiano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el enemigo se vuelve más peligroso? Variamos P(Enemigo Peligroso) en 5 valores y observamos cómo cambia la probabilidad de victoria y la decisión del agente.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82880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828800"/>
            <a:ext cx="2880360" cy="301752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828800"/>
            <a:ext cx="50292" cy="30175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9385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7DD"/>
                </a:solidFill>
              </a:rPr>
              <a:t>Resultados del análisis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246888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2404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P(Peligro)=5%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95160" y="23865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89%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24048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Atacar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80760" y="2788920"/>
            <a:ext cx="2468880" cy="384048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28620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P(Peligro)=10%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95160" y="28437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87%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2862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Atacar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0760" y="3246120"/>
            <a:ext cx="246888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33192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P(Peligro)=20%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95160" y="33009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84%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89520" y="33192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Atacar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80760" y="3703320"/>
            <a:ext cx="2468880" cy="384048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26480" y="37764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P(Peligro)=40%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95160" y="37581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78%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89520" y="37764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Atacar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80760" y="4160520"/>
            <a:ext cx="2468880" cy="384048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26480" y="4233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B"/>
                </a:solidFill>
              </a:rPr>
              <a:t>P(Peligro)=60%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95160" y="42153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72%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589520" y="42336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Atacar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4983480"/>
            <a:ext cx="8412480" cy="54864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" y="4983480"/>
            <a:ext cx="8412480" cy="36576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0749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7DD"/>
                </a:solidFill>
              </a:rPr>
              <a:t>Estabilidad del modelo: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743200" y="50749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ROBUSTO — la decisión (Atacar) no cambia en ningún escenario. La probabilidad baja de 89% a 72% pero se mantiene siempre sobre el umbral del 50%. El plan STRIPS tampoco cambia.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AGENTE INTEGRADOR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se integran los tres módulos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54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34440"/>
            <a:ext cx="365760" cy="365760"/>
          </a:xfrm>
          <a:prstGeom prst="ellipse">
            <a:avLst/>
          </a:prstGeom>
          <a:solidFill>
            <a:srgbClr val="8A94AB"/>
          </a:solidFill>
          <a:ln w="12700">
            <a:solidFill>
              <a:srgbClr val="8A94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527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623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B"/>
                </a:solidFill>
              </a:rPr>
              <a:t>OBSERVAR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HP, ítems, turno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1801368"/>
            <a:ext cx="155448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1188720"/>
            <a:ext cx="1554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4328" y="1234440"/>
            <a:ext cx="365760" cy="36576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2527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623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75688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7DD"/>
                </a:solidFill>
              </a:rPr>
              <a:t>BAYESIANO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19385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P(Victoria | evidencia)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84448" y="1801368"/>
            <a:ext cx="155448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1188720"/>
            <a:ext cx="1554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34256" y="1234440"/>
            <a:ext cx="365760" cy="365760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12527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623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85616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8ADD"/>
                </a:solidFill>
              </a:rPr>
              <a:t>STRIPS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85616" y="19385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acciones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94376" y="1801368"/>
            <a:ext cx="155448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9824" y="1188720"/>
            <a:ext cx="1554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44184" y="1234440"/>
            <a:ext cx="365760" cy="36576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44184" y="12527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623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95544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</a:rPr>
              <a:t>MIN-MAX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95544" y="19385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movimiento α-β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04304" y="1801368"/>
            <a:ext cx="155448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9752" y="1188720"/>
            <a:ext cx="1554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54112" y="123444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12527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623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05472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EJECUTAR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19385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→ nuevo estado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25603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9F27"/>
                </a:solidFill>
              </a:rPr>
              <a:t>↻  El ciclo se repite hasta que HP_héroe = 0  o  HP_jefe = 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4AB"/>
                </a:solidFill>
              </a:rPr>
              <a:t>EJEMPLO — Turno real registrado en agent_log.txt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46120"/>
            <a:ext cx="8412480" cy="1691640"/>
          </a:xfrm>
          <a:prstGeom prst="rect">
            <a:avLst/>
          </a:prstGeom>
          <a:solidFill>
            <a:srgbClr val="0D1420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33649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observar  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74520" y="336499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HP(65/40)  ítems=2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36667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 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74520" y="366674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P(Victoria) = 90%   [Red Bayesiana]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     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74520" y="39684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Comprar Espada → Ir Mazmorra → Debilitar Jefe → Atacar Jefe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" y="42702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 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874520" y="427024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ATACAR   (valor α-β = +114)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4360" y="45720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acción    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74520" y="457200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EJECUTAR: Atacar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ENTREGABLES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Archivos generados automáticamente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genera todos los archivos con un solo comando: python agente_rpg_ia.py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697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2697480" cy="5486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00253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minmax_tree.png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33172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Min-Max — nodos verde/coral,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elegida en ámbar grueso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874520"/>
            <a:ext cx="2697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874520"/>
            <a:ext cx="269748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200253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strips_graph.png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82696" y="233172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estados — ruta del plan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azul, leyenda completa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874520"/>
            <a:ext cx="2697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874520"/>
            <a:ext cx="269748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200253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bayes_bars.png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35624" y="233172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P(Victoria) / P(Derrota)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evidencia usada en el gráfico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2697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91840"/>
            <a:ext cx="269748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41985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agent_summary.png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74904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paneles: plan + probabilidad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decisión final del agente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291840"/>
            <a:ext cx="2697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3291840"/>
            <a:ext cx="269748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341985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sensitivity_analysis.png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82696" y="374904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sensibilidad con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Min-Max anotadas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25896" y="3291840"/>
            <a:ext cx="2697480" cy="12344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3291840"/>
            <a:ext cx="2697480" cy="54864"/>
          </a:xfrm>
          <a:prstGeom prst="rect">
            <a:avLst/>
          </a:prstGeom>
          <a:solidFill>
            <a:srgbClr val="8A94AB"/>
          </a:solidFill>
          <a:ln w="12700">
            <a:solidFill>
              <a:srgbClr val="8A94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341985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agent_log.txt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35624" y="374904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completo: experimentos,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y flujo por turno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solidFill>
            <a:srgbClr val="1A2235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README.md con instrucciones de ejecución y estructura del código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23"/>
                </a:solidFill>
              </a:rPr>
              <a:t>CONCLUSIONES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del parcial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188720" cy="777240"/>
          </a:xfrm>
          <a:prstGeom prst="rect">
            <a:avLst/>
          </a:prstGeom>
          <a:solidFill>
            <a:srgbClr val="D85A30">
              <a:alpha val="85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3"/>
                </a:solidFill>
              </a:rPr>
              <a:t>Min-Max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19072" y="134416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poda α-β reduce ~70% los nodos sin cambiar la decisión. La heurística propia mejora el comportamiento en situaciones de empate priorizando supervivencia.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" cy="7772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1188720" cy="777240"/>
          </a:xfrm>
          <a:prstGeom prst="rect">
            <a:avLst/>
          </a:prstGeom>
          <a:solidFill>
            <a:srgbClr val="378ADD">
              <a:alpha val="85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3"/>
                </a:solidFill>
              </a:rPr>
              <a:t>STRIPS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19072" y="225856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planificador encuentra siempre el mismo plan de 4 pasos. La lógica de precondiciones evita acciones imposibles y garantiza un plan válido.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50292" cy="77724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63240"/>
            <a:ext cx="1188720" cy="777240"/>
          </a:xfrm>
          <a:prstGeom prst="rect">
            <a:avLst/>
          </a:prstGeom>
          <a:solidFill>
            <a:srgbClr val="7F77DD">
              <a:alpha val="85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3"/>
                </a:solidFill>
              </a:rPr>
              <a:t>Bayesiano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19072" y="317296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robusto: P(Victoria) baja de 89% a 72% al aumentar el riesgo, pero la decisión no cambia. Umbral del 50% nunca se cruza con evidencia positiva.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202D42"/>
          </a:solidFill>
          <a:ln w="6350">
            <a:solidFill>
              <a:srgbClr val="2E3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77640"/>
            <a:ext cx="50292" cy="7772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77640"/>
            <a:ext cx="1188720" cy="777240"/>
          </a:xfrm>
          <a:prstGeom prst="rect">
            <a:avLst/>
          </a:prstGeom>
          <a:solidFill>
            <a:srgbClr val="EF9F27">
              <a:alpha val="85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3"/>
                </a:solidFill>
              </a:rPr>
              <a:t>Integrador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19072" y="408736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módulos se complementan: el Bayesiano evalúa el riesgo, STRIPS define la ruta larga, y Min-Max optimiza el movimiento inmediato turno a turno.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4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EN VIVO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agente_rpg_ia.py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solo comando — 6 archivos generados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árbol Min-Max (minmax_tree.png)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grafo STRIPS (strips_graph.png)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48386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las barras bayesianas (bayes_bars.png)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83133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resumen del agente (agent_summary.png)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1788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flujo en consola / agent_log.txt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 networkx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Parcial Corte 2 IA — Videojuegos</dc:title>
  <dc:subject>PptxGenJS Presentation</dc:subject>
  <dc:creator>Inteligencia Artificial Clásica</dc:creator>
  <cp:lastModifiedBy>Inteligencia Artificial Clásica</cp:lastModifiedBy>
  <cp:revision>1</cp:revision>
  <dcterms:created xsi:type="dcterms:W3CDTF">2026-04-13T21:47:13Z</dcterms:created>
  <dcterms:modified xsi:type="dcterms:W3CDTF">2026-04-13T21:47:14Z</dcterms:modified>
</cp:coreProperties>
</file>